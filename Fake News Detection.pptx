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6"/>
  </p:notesMasterIdLst>
  <p:handoutMasterIdLst>
    <p:handoutMasterId r:id="rId17"/>
  </p:handoutMasterIdLst>
  <p:sldIdLst>
    <p:sldId id="256" r:id="rId5"/>
    <p:sldId id="257" r:id="rId6"/>
    <p:sldId id="278" r:id="rId7"/>
    <p:sldId id="258" r:id="rId8"/>
    <p:sldId id="280" r:id="rId9"/>
    <p:sldId id="282" r:id="rId10"/>
    <p:sldId id="281" r:id="rId11"/>
    <p:sldId id="285" r:id="rId12"/>
    <p:sldId id="283" r:id="rId13"/>
    <p:sldId id="286" r:id="rId14"/>
    <p:sldId id="284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9898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0655" autoAdjust="0"/>
  </p:normalViewPr>
  <p:slideViewPr>
    <p:cSldViewPr snapToGrid="0">
      <p:cViewPr varScale="1">
        <p:scale>
          <a:sx n="80" d="100"/>
          <a:sy n="80" d="100"/>
        </p:scale>
        <p:origin x="782" y="67"/>
      </p:cViewPr>
      <p:guideLst/>
    </p:cSldViewPr>
  </p:slideViewPr>
  <p:outlineViewPr>
    <p:cViewPr>
      <p:scale>
        <a:sx n="33" d="100"/>
        <a:sy n="33" d="100"/>
      </p:scale>
      <p:origin x="0" y="-288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3403" y="29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E7F456E-01A6-4013-ACA5-F5492591A24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4983A3-9B9B-4D61-97C9-B9E239A3159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6F32FC-4BD9-442A-A8C6-51598C909FE3}" type="datetimeFigureOut">
              <a:rPr lang="en-US" smtClean="0"/>
              <a:t>5/2/2025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EABE74-7A97-4D17-8390-42ADD25C33C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2C1DBD-1052-425E-BF3C-983304BED5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EEFA9E-C190-4F5C-8394-BD5F1CD55C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48019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6371FA-A98D-41E8-93F4-09945841298A}" type="datetimeFigureOut">
              <a:rPr lang="en-US" smtClean="0"/>
              <a:t>5/2/2025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289C57-55D7-40A4-A101-E74FAC7A09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9902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81288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04389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25226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9544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61440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6593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532688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098670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378172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54654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41918" y="3329790"/>
            <a:ext cx="4941771" cy="3200400"/>
          </a:xfrm>
        </p:spPr>
        <p:txBody>
          <a:bodyPr anchor="ctr">
            <a:noAutofit/>
          </a:bodyPr>
          <a:lstStyle>
            <a:lvl1pPr algn="l">
              <a:defRPr sz="3600" spc="150" baseline="0"/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04F1E16-9A84-4D0E-9706-79C396AF6A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358" t="23650" b="-1"/>
          <a:stretch/>
        </p:blipFill>
        <p:spPr>
          <a:xfrm>
            <a:off x="0" y="0"/>
            <a:ext cx="9488312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68265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D514C6BF-376E-43E8-881D-2E76742699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28341" b="23071"/>
          <a:stretch/>
        </p:blipFill>
        <p:spPr>
          <a:xfrm>
            <a:off x="4229100" y="0"/>
            <a:ext cx="7962901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3500" y="1020445"/>
            <a:ext cx="2895600" cy="1325563"/>
          </a:xfrm>
        </p:spPr>
        <p:txBody>
          <a:bodyPr anchor="b">
            <a:normAutofit/>
          </a:bodyPr>
          <a:lstStyle>
            <a:lvl1pPr>
              <a:defRPr sz="28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333500" y="2674013"/>
            <a:ext cx="2895600" cy="3269589"/>
          </a:xfrm>
        </p:spPr>
        <p:txBody>
          <a:bodyPr>
            <a:normAutofit/>
          </a:bodyPr>
          <a:lstStyle>
            <a:lvl1pPr marL="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21249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87018"/>
            <a:ext cx="4179570" cy="3377354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A96E214-6A61-C8A7-B1DB-C8C260C134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6557818" cy="6858000"/>
            <a:chOff x="0" y="0"/>
            <a:chExt cx="4762501" cy="5186363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A18BC1BC-99D6-D9F4-19F9-AAE722E2AE61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0" y="876300"/>
              <a:ext cx="4762500" cy="162877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6816F797-248B-2C75-29B9-DB65A809D47B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2638425" y="0"/>
              <a:ext cx="2124076" cy="518636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82501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87680"/>
            <a:ext cx="4179570" cy="3376691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D8E94DD-0F7B-3F92-58EA-5F06D557BF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990667" y="0"/>
            <a:ext cx="1126278" cy="251229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419F5397-34DB-BC88-ADF5-AA470A06FE5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-5080"/>
            <a:ext cx="6576291" cy="6872605"/>
          </a:xfrm>
          <a:custGeom>
            <a:avLst/>
            <a:gdLst>
              <a:gd name="connsiteX0" fmla="*/ 0 w 6576291"/>
              <a:gd name="connsiteY0" fmla="*/ 0 h 6867525"/>
              <a:gd name="connsiteX1" fmla="*/ 6576291 w 6576291"/>
              <a:gd name="connsiteY1" fmla="*/ 0 h 6867525"/>
              <a:gd name="connsiteX2" fmla="*/ 6576291 w 6576291"/>
              <a:gd name="connsiteY2" fmla="*/ 6867525 h 6867525"/>
              <a:gd name="connsiteX3" fmla="*/ 0 w 6576291"/>
              <a:gd name="connsiteY3" fmla="*/ 6867525 h 6867525"/>
              <a:gd name="connsiteX4" fmla="*/ 0 w 6576291"/>
              <a:gd name="connsiteY4" fmla="*/ 0 h 6867525"/>
              <a:gd name="connsiteX0" fmla="*/ 0 w 6576291"/>
              <a:gd name="connsiteY0" fmla="*/ 5080 h 6872605"/>
              <a:gd name="connsiteX1" fmla="*/ 3604491 w 6576291"/>
              <a:gd name="connsiteY1" fmla="*/ 0 h 6872605"/>
              <a:gd name="connsiteX2" fmla="*/ 6576291 w 6576291"/>
              <a:gd name="connsiteY2" fmla="*/ 6872605 h 6872605"/>
              <a:gd name="connsiteX3" fmla="*/ 0 w 6576291"/>
              <a:gd name="connsiteY3" fmla="*/ 6872605 h 6872605"/>
              <a:gd name="connsiteX4" fmla="*/ 0 w 6576291"/>
              <a:gd name="connsiteY4" fmla="*/ 5080 h 6872605"/>
              <a:gd name="connsiteX0" fmla="*/ 0 w 6576291"/>
              <a:gd name="connsiteY0" fmla="*/ 0 h 6867525"/>
              <a:gd name="connsiteX1" fmla="*/ 3624811 w 6576291"/>
              <a:gd name="connsiteY1" fmla="*/ 10160 h 6867525"/>
              <a:gd name="connsiteX2" fmla="*/ 6576291 w 6576291"/>
              <a:gd name="connsiteY2" fmla="*/ 6867525 h 6867525"/>
              <a:gd name="connsiteX3" fmla="*/ 0 w 6576291"/>
              <a:gd name="connsiteY3" fmla="*/ 6867525 h 6867525"/>
              <a:gd name="connsiteX4" fmla="*/ 0 w 6576291"/>
              <a:gd name="connsiteY4" fmla="*/ 0 h 6867525"/>
              <a:gd name="connsiteX0" fmla="*/ 0 w 6576291"/>
              <a:gd name="connsiteY0" fmla="*/ 5080 h 6872605"/>
              <a:gd name="connsiteX1" fmla="*/ 3629891 w 6576291"/>
              <a:gd name="connsiteY1" fmla="*/ 0 h 6872605"/>
              <a:gd name="connsiteX2" fmla="*/ 6576291 w 6576291"/>
              <a:gd name="connsiteY2" fmla="*/ 6872605 h 6872605"/>
              <a:gd name="connsiteX3" fmla="*/ 0 w 6576291"/>
              <a:gd name="connsiteY3" fmla="*/ 6872605 h 6872605"/>
              <a:gd name="connsiteX4" fmla="*/ 0 w 6576291"/>
              <a:gd name="connsiteY4" fmla="*/ 5080 h 68726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76291" h="6872605">
                <a:moveTo>
                  <a:pt x="0" y="5080"/>
                </a:moveTo>
                <a:lnTo>
                  <a:pt x="3629891" y="0"/>
                </a:lnTo>
                <a:lnTo>
                  <a:pt x="6576291" y="6872605"/>
                </a:lnTo>
                <a:lnTo>
                  <a:pt x="0" y="6872605"/>
                </a:lnTo>
                <a:lnTo>
                  <a:pt x="0" y="5080"/>
                </a:lnTo>
                <a:close/>
              </a:path>
            </a:pathLst>
          </a:custGeom>
        </p:spPr>
        <p:txBody>
          <a:bodyPr lIns="182880" tIns="182880" bIns="91440"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40186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22318" y="268360"/>
            <a:ext cx="7288282" cy="2121177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EAC9D25F-5B3D-F5B2-5D02-C6BC6AA8987B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322388" y="2763078"/>
            <a:ext cx="7288212" cy="340705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1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8E16CF1-2502-F2F0-2C27-2DD7979033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096374" y="-25401"/>
            <a:ext cx="3095625" cy="6883401"/>
            <a:chOff x="9096375" y="-25401"/>
            <a:chExt cx="3095625" cy="6883401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6322A6FB-333C-65AE-23D8-08BCEA174D43}"/>
                </a:ext>
              </a:extLst>
            </p:cNvPr>
            <p:cNvCxnSpPr/>
            <p:nvPr userDrawn="1"/>
          </p:nvCxnSpPr>
          <p:spPr>
            <a:xfrm>
              <a:off x="9096375" y="1497012"/>
              <a:ext cx="309562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62BB247-4598-A983-DEBF-6F042C1DB0BC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9381744" y="-25401"/>
              <a:ext cx="2810256" cy="688340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4E84FEE-D475-A71D-7996-5925602ECF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0800000" flipH="1">
            <a:off x="-1" y="-25403"/>
            <a:ext cx="1210573" cy="204816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7459776D-4049-CB00-C321-0627C169B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DE114AF-34C6-A062-7340-858BC27DA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97359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06400"/>
            <a:ext cx="4179570" cy="3457971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5E045004-3604-59DC-13E0-7A0B2DF78C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3296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955F7B05-9431-1FBA-415D-6CF2DF562B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25785" y="0"/>
            <a:ext cx="4093633" cy="391239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3700" y="568961"/>
            <a:ext cx="8420100" cy="1780860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933700" y="2797255"/>
            <a:ext cx="3924300" cy="464499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07FF22E3-5928-787E-B062-FA18127D3BD9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2933700" y="3251596"/>
            <a:ext cx="3943627" cy="3234264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410173" y="2797255"/>
            <a:ext cx="3943627" cy="464499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178E4D0B-96F1-45F3-6B2A-5FA31A37257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410173" y="3251595"/>
            <a:ext cx="3943627" cy="3234264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5F41582C-9AD2-F126-40F3-D43E77D15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6926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341F76B1-7BEF-7A88-1394-1164BFF08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0127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41120" y="558801"/>
            <a:ext cx="9953308" cy="1780860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A217F83-0BDB-C70B-29FE-2651DE1915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429817" y="0"/>
            <a:ext cx="7762183" cy="2754814"/>
            <a:chOff x="7334250" y="0"/>
            <a:chExt cx="4857750" cy="1724025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E0C62368-3F79-C078-7086-B23D2F5A09F8}"/>
                </a:ext>
              </a:extLst>
            </p:cNvPr>
            <p:cNvCxnSpPr/>
            <p:nvPr userDrawn="1"/>
          </p:nvCxnSpPr>
          <p:spPr>
            <a:xfrm flipH="1" flipV="1">
              <a:off x="7334250" y="0"/>
              <a:ext cx="4857750" cy="76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609BDD71-BF2E-BDB0-A625-D8371AEA1CA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487150" y="0"/>
              <a:ext cx="704850" cy="172402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83354B96-CD25-BE1C-8CA2-3825F820B75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41120" y="2960877"/>
            <a:ext cx="2722880" cy="35128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CDD81865-54C7-7674-4B2E-041D05C1D146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1341120" y="3392035"/>
            <a:ext cx="2722880" cy="2907164"/>
          </a:xfrm>
        </p:spPr>
        <p:txBody>
          <a:bodyPr tIns="0">
            <a:normAutofit/>
          </a:bodyPr>
          <a:lstStyle>
            <a:lvl1pPr marL="283464" indent="-283464">
              <a:lnSpc>
                <a:spcPct val="100000"/>
              </a:lnSpc>
              <a:buFont typeface="+mj-lt"/>
              <a:buAutoNum type="arabicPeriod"/>
              <a:defRPr sz="1800" b="0" spc="50" baseline="0"/>
            </a:lvl1pPr>
            <a:lvl2pPr marL="566928" indent="-342900">
              <a:lnSpc>
                <a:spcPct val="100000"/>
              </a:lnSpc>
              <a:spcBef>
                <a:spcPts val="1000"/>
              </a:spcBef>
              <a:buFont typeface="+mj-lt"/>
              <a:buAutoNum type="alphaLcPeriod"/>
              <a:defRPr sz="1800" spc="50" baseline="0"/>
            </a:lvl2pPr>
            <a:lvl3pPr marL="850392" indent="-342900">
              <a:lnSpc>
                <a:spcPct val="100000"/>
              </a:lnSpc>
              <a:spcBef>
                <a:spcPts val="1000"/>
              </a:spcBef>
              <a:buFont typeface="+mj-lt"/>
              <a:buAutoNum type="arabicParenR"/>
              <a:defRPr sz="1800" spc="50" baseline="0"/>
            </a:lvl3pPr>
            <a:lvl4pPr marL="1042416" indent="-342900">
              <a:lnSpc>
                <a:spcPct val="100000"/>
              </a:lnSpc>
              <a:spcBef>
                <a:spcPts val="1000"/>
              </a:spcBef>
              <a:buFont typeface="+mj-lt"/>
              <a:buAutoNum type="alphaLcParenR"/>
              <a:defRPr sz="1800" spc="50" baseline="0"/>
            </a:lvl4pPr>
            <a:lvl5pPr marL="1074420" indent="-400050">
              <a:lnSpc>
                <a:spcPct val="100000"/>
              </a:lnSpc>
              <a:spcBef>
                <a:spcPts val="1000"/>
              </a:spcBef>
              <a:buFont typeface="+mj-lt"/>
              <a:buAutoNum type="romanLcPeriod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6F39BA57-7F1C-623F-BC7F-B689C5AC33EA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4754881" y="2960877"/>
            <a:ext cx="5516880" cy="35128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94BF07A4-5A33-0B3C-A378-AB2435F1D5F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754881" y="3324859"/>
            <a:ext cx="5506720" cy="3031489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Footer Placeholder 4">
            <a:extLst>
              <a:ext uri="{FF2B5EF4-FFF2-40B4-BE49-F238E27FC236}">
                <a16:creationId xmlns:a16="http://schemas.microsoft.com/office/drawing/2014/main" id="{63DC63A6-41FE-6C2D-9A53-0AE4A6DBF3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0B5130EC-B05B-5489-FBEC-DBEB6D1E737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20855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B2CC92D-F90A-CB67-4860-D6939AC295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3094182" y="0"/>
            <a:ext cx="1745673" cy="38977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6874" y="1671639"/>
            <a:ext cx="5884027" cy="1204912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4C376638-5C5B-8E5B-0C26-8F63B98EA41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28230" y="-9144"/>
            <a:ext cx="5481955" cy="6876288"/>
          </a:xfrm>
          <a:custGeom>
            <a:avLst/>
            <a:gdLst>
              <a:gd name="connsiteX0" fmla="*/ 0 w 5476875"/>
              <a:gd name="connsiteY0" fmla="*/ 0 h 6858000"/>
              <a:gd name="connsiteX1" fmla="*/ 5476875 w 5476875"/>
              <a:gd name="connsiteY1" fmla="*/ 0 h 6858000"/>
              <a:gd name="connsiteX2" fmla="*/ 5476875 w 5476875"/>
              <a:gd name="connsiteY2" fmla="*/ 6858000 h 6858000"/>
              <a:gd name="connsiteX3" fmla="*/ 0 w 5476875"/>
              <a:gd name="connsiteY3" fmla="*/ 6858000 h 6858000"/>
              <a:gd name="connsiteX4" fmla="*/ 0 w 5476875"/>
              <a:gd name="connsiteY4" fmla="*/ 0 h 6858000"/>
              <a:gd name="connsiteX0" fmla="*/ 0 w 5476875"/>
              <a:gd name="connsiteY0" fmla="*/ 0 h 6858000"/>
              <a:gd name="connsiteX1" fmla="*/ 2520315 w 5476875"/>
              <a:gd name="connsiteY1" fmla="*/ 0 h 6858000"/>
              <a:gd name="connsiteX2" fmla="*/ 5476875 w 5476875"/>
              <a:gd name="connsiteY2" fmla="*/ 6858000 h 6858000"/>
              <a:gd name="connsiteX3" fmla="*/ 0 w 5476875"/>
              <a:gd name="connsiteY3" fmla="*/ 6858000 h 6858000"/>
              <a:gd name="connsiteX4" fmla="*/ 0 w 5476875"/>
              <a:gd name="connsiteY4" fmla="*/ 0 h 6858000"/>
              <a:gd name="connsiteX0" fmla="*/ 5080 w 5481955"/>
              <a:gd name="connsiteY0" fmla="*/ 0 h 6858000"/>
              <a:gd name="connsiteX1" fmla="*/ 2525395 w 5481955"/>
              <a:gd name="connsiteY1" fmla="*/ 0 h 6858000"/>
              <a:gd name="connsiteX2" fmla="*/ 5481955 w 5481955"/>
              <a:gd name="connsiteY2" fmla="*/ 6858000 h 6858000"/>
              <a:gd name="connsiteX3" fmla="*/ 5080 w 5481955"/>
              <a:gd name="connsiteY3" fmla="*/ 6858000 h 6858000"/>
              <a:gd name="connsiteX4" fmla="*/ 0 w 5481955"/>
              <a:gd name="connsiteY4" fmla="*/ 4805680 h 6858000"/>
              <a:gd name="connsiteX5" fmla="*/ 5080 w 5481955"/>
              <a:gd name="connsiteY5" fmla="*/ 0 h 685800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75996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759960 h 6863080"/>
              <a:gd name="connsiteX5" fmla="*/ 5080 w 5481955"/>
              <a:gd name="connsiteY5" fmla="*/ 0 h 6863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81955" h="6863080">
                <a:moveTo>
                  <a:pt x="5080" y="0"/>
                </a:moveTo>
                <a:lnTo>
                  <a:pt x="2525395" y="0"/>
                </a:lnTo>
                <a:lnTo>
                  <a:pt x="5481955" y="6858000"/>
                </a:lnTo>
                <a:lnTo>
                  <a:pt x="899160" y="6863080"/>
                </a:lnTo>
                <a:cubicBezTo>
                  <a:pt x="506307" y="5933440"/>
                  <a:pt x="413173" y="5720080"/>
                  <a:pt x="0" y="4759960"/>
                </a:cubicBezTo>
                <a:cubicBezTo>
                  <a:pt x="1693" y="3158067"/>
                  <a:pt x="3387" y="1601893"/>
                  <a:pt x="5080" y="0"/>
                </a:cubicBezTo>
                <a:close/>
              </a:path>
            </a:pathLst>
          </a:custGeom>
        </p:spPr>
        <p:txBody>
          <a:bodyPr lIns="274320" tIns="91440" bIns="91440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04569D00-2037-2A8D-943B-22FAC1C0B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25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5967A9D-0B53-4F3F-0872-495C23A33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643B0E9A-A777-8745-6A36-0A79CB5E036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5453725" y="3660774"/>
            <a:ext cx="5907176" cy="2536826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177805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1" y="895350"/>
            <a:ext cx="3247662" cy="1917700"/>
          </a:xfrm>
        </p:spPr>
        <p:txBody>
          <a:bodyPr>
            <a:normAutofit/>
          </a:bodyPr>
          <a:lstStyle>
            <a:lvl1pPr algn="l">
              <a:defRPr lang="en-US" sz="24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A14C3057-3BCC-F9A2-98D8-17DDB36F1823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838200" y="2813049"/>
            <a:ext cx="3247662" cy="3238499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C3975522-461E-4D79-B5B9-BF9471B54688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4216396" y="895927"/>
            <a:ext cx="7137404" cy="5115889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5F91997C-538B-C8B9-14D7-31A1932F6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1615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1F777EF4-982E-9337-7E82-31DC723C1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34303BA-AFB6-0E22-486F-785994E3B7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2327564" cy="1505528"/>
            <a:chOff x="0" y="0"/>
            <a:chExt cx="2238376" cy="3105150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F66E3A08-02EB-7B54-5089-E7A7F19FD725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1238250" cy="3105150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814F9BE5-00B2-ADDF-771C-AB098B36C820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2238376" cy="24765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280816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37192"/>
            <a:ext cx="5655197" cy="1997867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2705177"/>
            <a:ext cx="5733772" cy="448990"/>
          </a:xfrm>
        </p:spPr>
        <p:txBody>
          <a:bodyPr anchor="ctr">
            <a:no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8199" y="3154166"/>
            <a:ext cx="5733773" cy="3032733"/>
          </a:xfrm>
        </p:spPr>
        <p:txBody>
          <a:bodyPr>
            <a:normAutofit/>
          </a:bodyPr>
          <a:lstStyle>
            <a:lvl1pPr marL="2857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1pPr>
            <a:lvl2pPr marL="7429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2pPr>
            <a:lvl3pPr marL="12001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3pPr>
            <a:lvl4pPr marL="16573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4pPr>
            <a:lvl5pPr marL="21145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887108" y="2705177"/>
            <a:ext cx="3943627" cy="448989"/>
          </a:xfrm>
        </p:spPr>
        <p:txBody>
          <a:bodyPr anchor="ctr">
            <a:no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0120DFF5-B64A-9744-4500-1D7BBA19BF1C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887107" y="3164867"/>
            <a:ext cx="3943627" cy="3032733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986" y="6356350"/>
            <a:ext cx="4114800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E0588715-35AD-8BE1-A5FC-E28BDD3854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645" t="319" r="28732" b="73496"/>
          <a:stretch/>
        </p:blipFill>
        <p:spPr>
          <a:xfrm rot="10800000" flipH="1">
            <a:off x="6308436" y="-11"/>
            <a:ext cx="5883564" cy="2366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24519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544E9C70-0200-3C21-7766-CB9EA5FBFA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2590800" cy="1027906"/>
            <a:chOff x="0" y="0"/>
            <a:chExt cx="2590800" cy="1027906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D5E4B16-2071-DEE9-BE53-F35AFBEFCA57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0" y="0"/>
              <a:ext cx="2590800" cy="76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1CB2B071-0355-D550-18A8-9D515CA16987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704850" cy="102790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53550"/>
            <a:ext cx="10515600" cy="1325563"/>
          </a:xfrm>
        </p:spPr>
        <p:txBody>
          <a:bodyPr anchor="b"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C3975522-461E-4D79-B5B9-BF9471B54688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838200" y="2111381"/>
            <a:ext cx="10515600" cy="3570963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BFB554B2-4C33-2975-9F27-94B8AE71D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03C6776-E983-2BA3-1054-75996FE0F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06800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losin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67200" y="1615736"/>
            <a:ext cx="4179570" cy="1524735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267200" y="3238103"/>
            <a:ext cx="4179570" cy="2850181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1800" spc="5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D3361C9-310A-4255-A94E-B77588962D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3176938" cy="6858000"/>
          </a:xfrm>
          <a:prstGeom prst="rect">
            <a:avLst/>
          </a:prstGeom>
        </p:spPr>
      </p:pic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6026D44C-0B39-4DE1-A0FC-5615DDAA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356350"/>
            <a:ext cx="4179570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0F8222B4-B618-42C4-8BDB-D2E4DF2F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11404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9DFD55-3C28-40EF-9E31-A92D2E4017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9061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9" r:id="rId3"/>
    <p:sldLayoutId id="2147483670" r:id="rId4"/>
    <p:sldLayoutId id="2147483651" r:id="rId5"/>
    <p:sldLayoutId id="2147483671" r:id="rId6"/>
    <p:sldLayoutId id="2147483672" r:id="rId7"/>
    <p:sldLayoutId id="2147483673" r:id="rId8"/>
    <p:sldLayoutId id="2147483664" r:id="rId9"/>
    <p:sldLayoutId id="2147483674" r:id="rId10"/>
    <p:sldLayoutId id="2147483653" r:id="rId11"/>
    <p:sldLayoutId id="2147483667" r:id="rId12"/>
    <p:sldLayoutId id="2147483665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75451-6A4B-484B-9ED1-353CCE25B0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29638" y="2943225"/>
            <a:ext cx="6643338" cy="4114800"/>
          </a:xfrm>
        </p:spPr>
        <p:txBody>
          <a:bodyPr anchor="ctr"/>
          <a:lstStyle/>
          <a:p>
            <a:r>
              <a:rPr lang="en-US" sz="4000" b="1" u="sng" dirty="0"/>
              <a:t>Fake News Detection</a:t>
            </a:r>
            <a:br>
              <a:rPr lang="en-US" sz="4000" b="1" u="sng" dirty="0"/>
            </a:br>
            <a:r>
              <a:rPr lang="en-US" sz="1400" dirty="0"/>
              <a:t>Machine Learning based classification of news articles</a:t>
            </a:r>
            <a:endParaRPr lang="en-US" sz="6600" b="1" dirty="0"/>
          </a:p>
        </p:txBody>
      </p:sp>
      <p:pic>
        <p:nvPicPr>
          <p:cNvPr id="1026" name="Picture 2" descr="Image result for bennett logo">
            <a:extLst>
              <a:ext uri="{FF2B5EF4-FFF2-40B4-BE49-F238E27FC236}">
                <a16:creationId xmlns:a16="http://schemas.microsoft.com/office/drawing/2014/main" id="{C62A6C2E-D62A-5C94-0DC0-FAF0FAD250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68025" y="0"/>
            <a:ext cx="1231281" cy="12978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860588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EF5859-10C9-4588-9727-B9362E26C2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312" y="1605625"/>
            <a:ext cx="2895600" cy="1325563"/>
          </a:xfrm>
        </p:spPr>
        <p:txBody>
          <a:bodyPr>
            <a:normAutofit/>
          </a:bodyPr>
          <a:lstStyle/>
          <a:p>
            <a:r>
              <a:rPr lang="en-US" sz="2400" b="1" u="sng" dirty="0"/>
              <a:t>Team members: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71D7E5-EF66-4BCD-8DAA-E9061157F0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2312" y="2931188"/>
            <a:ext cx="3638550" cy="3269589"/>
          </a:xfrm>
        </p:spPr>
        <p:txBody>
          <a:bodyPr>
            <a:normAutofit/>
          </a:bodyPr>
          <a:lstStyle/>
          <a:p>
            <a:r>
              <a:rPr lang="en-US" dirty="0"/>
              <a:t>Ananya Jha– E23CSEU2223</a:t>
            </a:r>
          </a:p>
          <a:p>
            <a:r>
              <a:rPr lang="en-US" dirty="0"/>
              <a:t>Jishnu Singh – E23CSEU2224</a:t>
            </a:r>
          </a:p>
          <a:p>
            <a:r>
              <a:rPr lang="en-US" dirty="0"/>
              <a:t>Kartikey Bhardwaj– E23CSEU2235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02A8827-B1A1-2D2F-D6DD-E886B886C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2</a:t>
            </a:fld>
            <a:endParaRPr lang="en-US" dirty="0"/>
          </a:p>
        </p:txBody>
      </p:sp>
      <p:pic>
        <p:nvPicPr>
          <p:cNvPr id="1026" name="Picture 2" descr="This contains: Cats cats cats">
            <a:extLst>
              <a:ext uri="{FF2B5EF4-FFF2-40B4-BE49-F238E27FC236}">
                <a16:creationId xmlns:a16="http://schemas.microsoft.com/office/drawing/2014/main" id="{519DC96F-048B-0EC8-F9F0-00B3F186F5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312" y="471195"/>
            <a:ext cx="4941771" cy="12845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132195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28DBD1-DB29-D44F-FD5A-3071BB37EF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67500" y="1497646"/>
            <a:ext cx="4857750" cy="551207"/>
          </a:xfrm>
        </p:spPr>
        <p:txBody>
          <a:bodyPr/>
          <a:lstStyle/>
          <a:p>
            <a:r>
              <a:rPr lang="en-US" sz="3200" u="sng" dirty="0"/>
              <a:t>What is Fake News?</a:t>
            </a:r>
            <a:endParaRPr lang="en-US" sz="2800" u="sng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A4018F7-2661-270E-37C0-80C48F802D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Given two sorted arrays 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nums1</a:t>
            </a:r>
            <a:r>
              <a:rPr kumimoji="0" lang="en-US" altLang="en-US" sz="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and 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nums2</a:t>
            </a:r>
            <a:r>
              <a:rPr kumimoji="0" lang="en-US" altLang="en-US" sz="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 find the median.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0460FAE-ADB7-93CD-8025-F953487E26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616" y="2498032"/>
            <a:ext cx="2709284" cy="361237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6570022-42B6-3045-26E0-EC71FCC286BD}"/>
              </a:ext>
            </a:extLst>
          </p:cNvPr>
          <p:cNvSpPr txBox="1"/>
          <p:nvPr/>
        </p:nvSpPr>
        <p:spPr>
          <a:xfrm>
            <a:off x="6791452" y="1001407"/>
            <a:ext cx="4538536" cy="67946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1" name="Rectangle 5">
            <a:extLst>
              <a:ext uri="{FF2B5EF4-FFF2-40B4-BE49-F238E27FC236}">
                <a16:creationId xmlns:a16="http://schemas.microsoft.com/office/drawing/2014/main" id="{D08DBF4D-0678-491A-D3E8-E710D196C7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67500" y="2432335"/>
            <a:ext cx="4857750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Fake news refers to false information that is presented as news. It often aims to mislead or damage a person, organization, or country.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Detecting fake news is important to prevent misinformation from spreading rapidly through social media and other online platforms.</a:t>
            </a:r>
          </a:p>
        </p:txBody>
      </p:sp>
    </p:spTree>
    <p:extLst>
      <p:ext uri="{BB962C8B-B14F-4D97-AF65-F5344CB8AC3E}">
        <p14:creationId xmlns:p14="http://schemas.microsoft.com/office/powerpoint/2010/main" val="6087961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2731C-311B-46F7-A865-6C3AF6B09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2318" y="1104900"/>
            <a:ext cx="7288282" cy="798862"/>
          </a:xfrm>
        </p:spPr>
        <p:txBody>
          <a:bodyPr>
            <a:normAutofit/>
          </a:bodyPr>
          <a:lstStyle/>
          <a:p>
            <a:r>
              <a:rPr lang="en-US" sz="4400" u="sng" dirty="0"/>
              <a:t>Related work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ECE635A2-70B8-3EAB-6A18-952B02EBA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A436B49D-CF16-064F-E610-C6B49E484736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1322318" y="2357588"/>
            <a:ext cx="6935787" cy="29238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sz="2800" b="0" i="0" dirty="0">
                <a:effectLst/>
                <a:latin typeface="-apple-system"/>
              </a:rPr>
              <a:t>This implementation draws inspiration from several key research papers in the field: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800" b="1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Conroy et al. (2015)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Textual feature extraction for deception detection.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Shu et al. (2017)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Stance detection methodology for fake news detection.</a:t>
            </a:r>
          </a:p>
        </p:txBody>
      </p:sp>
    </p:spTree>
    <p:extLst>
      <p:ext uri="{BB962C8B-B14F-4D97-AF65-F5344CB8AC3E}">
        <p14:creationId xmlns:p14="http://schemas.microsoft.com/office/powerpoint/2010/main" val="35715163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6C97BE-403B-122E-90D1-2788978A0B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34076" y="1400175"/>
            <a:ext cx="6086474" cy="4219575"/>
          </a:xfrm>
        </p:spPr>
        <p:txBody>
          <a:bodyPr/>
          <a:lstStyle/>
          <a:p>
            <a:r>
              <a:rPr lang="en-US" u="sng" dirty="0"/>
              <a:t>Dataset</a:t>
            </a:r>
            <a:br>
              <a:rPr lang="en-US" u="sng" dirty="0"/>
            </a:br>
            <a:br>
              <a:rPr lang="en-US" b="1" dirty="0"/>
            </a:br>
            <a:br>
              <a:rPr lang="en-US" sz="2400" b="1" dirty="0"/>
            </a:br>
            <a:r>
              <a:rPr lang="en-US" sz="2400" b="1" dirty="0"/>
              <a:t>Source</a:t>
            </a:r>
            <a:r>
              <a:rPr lang="en-US" sz="2400" dirty="0"/>
              <a:t>: Kaggle - Fake and Real News Dataset</a:t>
            </a:r>
            <a:br>
              <a:rPr lang="en-US" sz="2400" dirty="0"/>
            </a:br>
            <a:br>
              <a:rPr lang="en-US" sz="2400" dirty="0"/>
            </a:br>
            <a:r>
              <a:rPr lang="en-US" sz="2400" b="1" dirty="0"/>
              <a:t>Content</a:t>
            </a:r>
            <a:r>
              <a:rPr lang="en-US" sz="2400" dirty="0"/>
              <a:t>: 21,417 real articles, 23,481 fake articles.</a:t>
            </a:r>
            <a:br>
              <a:rPr lang="en-US" sz="2400" dirty="0"/>
            </a:br>
            <a:br>
              <a:rPr lang="en-US" sz="2400" dirty="0"/>
            </a:br>
            <a:r>
              <a:rPr lang="en-US" sz="2400" b="1" dirty="0"/>
              <a:t>Features</a:t>
            </a:r>
            <a:r>
              <a:rPr lang="en-US" sz="2400" dirty="0"/>
              <a:t>: Title, Text, Subject, Date.</a:t>
            </a:r>
            <a:br>
              <a:rPr lang="en-US" sz="1600" dirty="0"/>
            </a:br>
            <a:endParaRPr lang="en-US" sz="2400" dirty="0">
              <a:latin typeface="Abad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6967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27D9B3-B64F-656A-0D99-161A6C0F51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1120" y="558801"/>
            <a:ext cx="9953308" cy="1780860"/>
          </a:xfrm>
        </p:spPr>
        <p:txBody>
          <a:bodyPr/>
          <a:lstStyle/>
          <a:p>
            <a:r>
              <a:rPr lang="en-US" b="1" u="sng" dirty="0"/>
              <a:t>Data Preprocessing</a:t>
            </a:r>
          </a:p>
        </p:txBody>
      </p:sp>
      <p:sp>
        <p:nvSpPr>
          <p:cNvPr id="36" name="Content Placeholder 35">
            <a:extLst>
              <a:ext uri="{FF2B5EF4-FFF2-40B4-BE49-F238E27FC236}">
                <a16:creationId xmlns:a16="http://schemas.microsoft.com/office/drawing/2014/main" id="{E71298F0-74F1-FECA-0F02-495F9A2EBA7B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1341120" y="2671309"/>
            <a:ext cx="8593455" cy="3627890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Text cleaning (remove special characters, numbers)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Lowercasing, tokenization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Stop words removal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Stemming/Lemmatization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TF-IDF Vectorization</a:t>
            </a:r>
          </a:p>
        </p:txBody>
      </p:sp>
      <p:sp>
        <p:nvSpPr>
          <p:cNvPr id="68" name="Slide Number Placeholder 67">
            <a:extLst>
              <a:ext uri="{FF2B5EF4-FFF2-40B4-BE49-F238E27FC236}">
                <a16:creationId xmlns:a16="http://schemas.microsoft.com/office/drawing/2014/main" id="{AA0ACADD-CC4E-851C-DA07-C22DB97FA23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69298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5E2E6A-35EC-1B8E-0FD7-8C67870ACA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8350" y="639418"/>
            <a:ext cx="8420100" cy="1780860"/>
          </a:xfrm>
        </p:spPr>
        <p:txBody>
          <a:bodyPr>
            <a:normAutofit/>
          </a:bodyPr>
          <a:lstStyle/>
          <a:p>
            <a:r>
              <a:rPr lang="en-US" sz="3600" u="sng" dirty="0"/>
              <a:t>Models Implemented</a:t>
            </a:r>
            <a:endParaRPr lang="en-US" sz="4800" u="sng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F44A959-C2BB-9170-C99C-1A2EDB71B9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CD285CA6-0458-81CB-5B04-26E56C929DF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2038350" y="2990548"/>
            <a:ext cx="9408345" cy="27946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Logistic Regression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b="0" dirty="0">
                <a:latin typeface="Arial" panose="020B0604020202020204" pitchFamily="34" charset="0"/>
                <a:cs typeface="Arial" panose="020B0604020202020204" pitchFamily="34" charset="0"/>
              </a:rPr>
              <a:t>A statistical model used for binary classification.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0" dirty="0">
                <a:latin typeface="Arial" panose="020B0604020202020204" pitchFamily="34" charset="0"/>
                <a:cs typeface="Arial" panose="020B0604020202020204" pitchFamily="34" charset="0"/>
              </a:rPr>
              <a:t>Calculates the probability of a class using a logistic (sigmoid) function.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0" dirty="0">
                <a:latin typeface="Arial" panose="020B0604020202020204" pitchFamily="34" charset="0"/>
                <a:cs typeface="Arial" panose="020B0604020202020204" pitchFamily="34" charset="0"/>
              </a:rPr>
              <a:t>Assumes a linear relationship between input features and the log-odds of the output.</a:t>
            </a:r>
            <a:endParaRPr lang="en-US" altLang="en-US" b="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Random Forest Classifier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04007EA4-DDBA-0CD8-57B2-677A614399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38350" y="5214099"/>
            <a:ext cx="7779694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 ensemble learning method that builds multiple decision trees.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Each tree votes, and the majority decision is the final output.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Reduces overfitting and improves accuracy by combining diverse models.</a:t>
            </a:r>
          </a:p>
        </p:txBody>
      </p:sp>
    </p:spTree>
    <p:extLst>
      <p:ext uri="{BB962C8B-B14F-4D97-AF65-F5344CB8AC3E}">
        <p14:creationId xmlns:p14="http://schemas.microsoft.com/office/powerpoint/2010/main" val="1034587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5D7417-C8C3-775C-6645-E2192EF468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57949" y="1133475"/>
            <a:ext cx="5019675" cy="676276"/>
          </a:xfrm>
        </p:spPr>
        <p:txBody>
          <a:bodyPr/>
          <a:lstStyle/>
          <a:p>
            <a:r>
              <a:rPr lang="en-US" u="sng" dirty="0"/>
              <a:t>Evaluation Metrics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1EB76C1F-4F35-CDB5-5258-C5C2CAEF13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57949" y="2502812"/>
            <a:ext cx="3106993" cy="31700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Accuracy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Precision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Recall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F1-Score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000" dirty="0">
                <a:solidFill>
                  <a:schemeClr val="bg1"/>
                </a:solidFill>
                <a:latin typeface="Arial" panose="020B0604020202020204" pitchFamily="34" charset="0"/>
              </a:rPr>
              <a:t>Cross Validation Score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50449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321055C-5E33-5D21-2A6E-21827FA88E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895350"/>
            <a:ext cx="3247662" cy="1917700"/>
          </a:xfrm>
        </p:spPr>
        <p:txBody>
          <a:bodyPr>
            <a:normAutofit/>
          </a:bodyPr>
          <a:lstStyle/>
          <a:p>
            <a:r>
              <a:rPr lang="en-US" dirty="0"/>
              <a:t>Results</a:t>
            </a:r>
          </a:p>
        </p:txBody>
      </p:sp>
      <p:graphicFrame>
        <p:nvGraphicFramePr>
          <p:cNvPr id="10" name="Table Placeholder 2">
            <a:extLst>
              <a:ext uri="{FF2B5EF4-FFF2-40B4-BE49-F238E27FC236}">
                <a16:creationId xmlns:a16="http://schemas.microsoft.com/office/drawing/2014/main" id="{98ED67AF-B48B-F5F8-E2FD-1C98C42C4D54}"/>
              </a:ext>
            </a:extLst>
          </p:cNvPr>
          <p:cNvGraphicFramePr>
            <a:graphicFrameLocks noGrp="1"/>
          </p:cNvGraphicFramePr>
          <p:nvPr>
            <p:ph type="tbl" sz="quarter" idx="14"/>
            <p:extLst>
              <p:ext uri="{D42A27DB-BD31-4B8C-83A1-F6EECF244321}">
                <p14:modId xmlns:p14="http://schemas.microsoft.com/office/powerpoint/2010/main" val="556477909"/>
              </p:ext>
            </p:extLst>
          </p:nvPr>
        </p:nvGraphicFramePr>
        <p:xfrm>
          <a:off x="838201" y="2339336"/>
          <a:ext cx="10239375" cy="4199575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3413125">
                  <a:extLst>
                    <a:ext uri="{9D8B030D-6E8A-4147-A177-3AD203B41FA5}">
                      <a16:colId xmlns:a16="http://schemas.microsoft.com/office/drawing/2014/main" val="127040821"/>
                    </a:ext>
                  </a:extLst>
                </a:gridCol>
                <a:gridCol w="3413125">
                  <a:extLst>
                    <a:ext uri="{9D8B030D-6E8A-4147-A177-3AD203B41FA5}">
                      <a16:colId xmlns:a16="http://schemas.microsoft.com/office/drawing/2014/main" val="149845700"/>
                    </a:ext>
                  </a:extLst>
                </a:gridCol>
                <a:gridCol w="3413125">
                  <a:extLst>
                    <a:ext uri="{9D8B030D-6E8A-4147-A177-3AD203B41FA5}">
                      <a16:colId xmlns:a16="http://schemas.microsoft.com/office/drawing/2014/main" val="1695919245"/>
                    </a:ext>
                  </a:extLst>
                </a:gridCol>
              </a:tblGrid>
              <a:tr h="405740"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Metrics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/>
                        <a:t>Logistic Regression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Random Forest </a:t>
                      </a:r>
                      <a:endParaRPr 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98013591"/>
                  </a:ext>
                </a:extLst>
              </a:tr>
              <a:tr h="34848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Accuracy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98.2%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96.36%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73867931"/>
                  </a:ext>
                </a:extLst>
              </a:tr>
              <a:tr h="48972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Precision(real)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98%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98%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82537343"/>
                  </a:ext>
                </a:extLst>
              </a:tr>
              <a:tr h="48972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Precision(fake)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99%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95%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04067689"/>
                  </a:ext>
                </a:extLst>
              </a:tr>
              <a:tr h="48972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Recall(real)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98%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95%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73989510"/>
                  </a:ext>
                </a:extLst>
              </a:tr>
              <a:tr h="48972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Recall(fake)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98%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98%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40243963"/>
                  </a:ext>
                </a:extLst>
              </a:tr>
              <a:tr h="48972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F1-Score(real)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98%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96%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17658378"/>
                  </a:ext>
                </a:extLst>
              </a:tr>
              <a:tr h="48972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F1-Score(fake)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98%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97%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91294046"/>
                  </a:ext>
                </a:extLst>
              </a:tr>
              <a:tr h="48972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Cross-Validation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98.19%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97.19%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6562522"/>
                  </a:ext>
                </a:extLst>
              </a:tr>
            </a:tbl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4B0ADB-527F-A58C-9372-D8502ED6F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FAE7A67-EC87-73C1-1E6D-824E2759CB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76494" y="330199"/>
            <a:ext cx="1777305" cy="1700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81646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E2907-12B4-BA95-6DA5-F27524A98D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71714" y="1005444"/>
            <a:ext cx="4179570" cy="741045"/>
          </a:xfrm>
        </p:spPr>
        <p:txBody>
          <a:bodyPr/>
          <a:lstStyle/>
          <a:p>
            <a:r>
              <a:rPr lang="en-US" u="sng" dirty="0"/>
              <a:t>Deployment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AF10DE4-2B7D-681C-45C9-CF5104350F1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175" name="Picture 7" descr="This may contain: a cat sitting on top of a wooden desk next to a blackboard with a pen in it">
            <a:extLst>
              <a:ext uri="{FF2B5EF4-FFF2-40B4-BE49-F238E27FC236}">
                <a16:creationId xmlns:a16="http://schemas.microsoft.com/office/drawing/2014/main" id="{16862515-F484-D038-73EB-57421B76EA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9462" y="1746489"/>
            <a:ext cx="3694517" cy="369451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6" name="Rectangle 2">
            <a:extLst>
              <a:ext uri="{FF2B5EF4-FFF2-40B4-BE49-F238E27FC236}">
                <a16:creationId xmlns:a16="http://schemas.microsoft.com/office/drawing/2014/main" id="{FBAA9FE4-9412-2B03-50D1-1283D6CDDA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1746489"/>
            <a:ext cx="6271713" cy="41857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Deployment Platform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Deployed using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Render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(a cloud platform for hosting web applications).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Framework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The application is built using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Flask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, a lightweight Python web framework.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Web Interface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Users can interact with the model through a simple web interface hosted on Render.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Model Integration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The trained machine learning models (Logistic Regression and Random Forest) are integrated into the Flask application using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Pickle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for model serialization and deserialization.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Hosting and Accessibility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The web app is accessible via a public URL hosted on Render, allowing users to submit news articles and get real-time fake news detection results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4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87634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09140014-73D5-419B-8867-972BB18D52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76874" y="1671639"/>
            <a:ext cx="5884027" cy="1204912"/>
          </a:xfrm>
        </p:spPr>
        <p:txBody>
          <a:bodyPr anchor="b">
            <a:normAutofit/>
          </a:bodyPr>
          <a:lstStyle/>
          <a:p>
            <a:r>
              <a:rPr lang="en-US" sz="3600" u="sng" dirty="0"/>
              <a:t>Conclusion</a:t>
            </a:r>
          </a:p>
        </p:txBody>
      </p:sp>
      <p:pic>
        <p:nvPicPr>
          <p:cNvPr id="6147" name="Picture 3" descr="Story pin image">
            <a:extLst>
              <a:ext uri="{FF2B5EF4-FFF2-40B4-BE49-F238E27FC236}">
                <a16:creationId xmlns:a16="http://schemas.microsoft.com/office/drawing/2014/main" id="{3195C2C2-C116-3144-D624-73CC182539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812" r="9466" b="2"/>
          <a:stretch/>
        </p:blipFill>
        <p:spPr bwMode="auto">
          <a:xfrm>
            <a:off x="-28230" y="-9144"/>
            <a:ext cx="5481955" cy="6876288"/>
          </a:xfrm>
          <a:custGeom>
            <a:avLst/>
            <a:gdLst>
              <a:gd name="connsiteX0" fmla="*/ 0 w 5476875"/>
              <a:gd name="connsiteY0" fmla="*/ 0 h 6858000"/>
              <a:gd name="connsiteX1" fmla="*/ 5476875 w 5476875"/>
              <a:gd name="connsiteY1" fmla="*/ 0 h 6858000"/>
              <a:gd name="connsiteX2" fmla="*/ 5476875 w 5476875"/>
              <a:gd name="connsiteY2" fmla="*/ 6858000 h 6858000"/>
              <a:gd name="connsiteX3" fmla="*/ 0 w 5476875"/>
              <a:gd name="connsiteY3" fmla="*/ 6858000 h 6858000"/>
              <a:gd name="connsiteX4" fmla="*/ 0 w 5476875"/>
              <a:gd name="connsiteY4" fmla="*/ 0 h 6858000"/>
              <a:gd name="connsiteX0" fmla="*/ 0 w 5476875"/>
              <a:gd name="connsiteY0" fmla="*/ 0 h 6858000"/>
              <a:gd name="connsiteX1" fmla="*/ 2520315 w 5476875"/>
              <a:gd name="connsiteY1" fmla="*/ 0 h 6858000"/>
              <a:gd name="connsiteX2" fmla="*/ 5476875 w 5476875"/>
              <a:gd name="connsiteY2" fmla="*/ 6858000 h 6858000"/>
              <a:gd name="connsiteX3" fmla="*/ 0 w 5476875"/>
              <a:gd name="connsiteY3" fmla="*/ 6858000 h 6858000"/>
              <a:gd name="connsiteX4" fmla="*/ 0 w 5476875"/>
              <a:gd name="connsiteY4" fmla="*/ 0 h 6858000"/>
              <a:gd name="connsiteX0" fmla="*/ 5080 w 5481955"/>
              <a:gd name="connsiteY0" fmla="*/ 0 h 6858000"/>
              <a:gd name="connsiteX1" fmla="*/ 2525395 w 5481955"/>
              <a:gd name="connsiteY1" fmla="*/ 0 h 6858000"/>
              <a:gd name="connsiteX2" fmla="*/ 5481955 w 5481955"/>
              <a:gd name="connsiteY2" fmla="*/ 6858000 h 6858000"/>
              <a:gd name="connsiteX3" fmla="*/ 5080 w 5481955"/>
              <a:gd name="connsiteY3" fmla="*/ 6858000 h 6858000"/>
              <a:gd name="connsiteX4" fmla="*/ 0 w 5481955"/>
              <a:gd name="connsiteY4" fmla="*/ 4805680 h 6858000"/>
              <a:gd name="connsiteX5" fmla="*/ 5080 w 5481955"/>
              <a:gd name="connsiteY5" fmla="*/ 0 h 685800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75996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759960 h 6863080"/>
              <a:gd name="connsiteX5" fmla="*/ 5080 w 5481955"/>
              <a:gd name="connsiteY5" fmla="*/ 0 h 6863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81955" h="6863080">
                <a:moveTo>
                  <a:pt x="5080" y="0"/>
                </a:moveTo>
                <a:lnTo>
                  <a:pt x="2525395" y="0"/>
                </a:lnTo>
                <a:lnTo>
                  <a:pt x="5481955" y="6858000"/>
                </a:lnTo>
                <a:lnTo>
                  <a:pt x="899160" y="6863080"/>
                </a:lnTo>
                <a:cubicBezTo>
                  <a:pt x="506307" y="5933440"/>
                  <a:pt x="413173" y="5720080"/>
                  <a:pt x="0" y="4759960"/>
                </a:cubicBezTo>
                <a:cubicBezTo>
                  <a:pt x="1693" y="3158067"/>
                  <a:pt x="3387" y="1601893"/>
                  <a:pt x="5080" y="0"/>
                </a:cubicBezTo>
                <a:close/>
              </a:path>
            </a:pathLst>
          </a:custGeom>
          <a:solidFill>
            <a:srgbClr val="FFFFFF"/>
          </a:solidFill>
        </p:spPr>
      </p:pic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396FFDC-ADE8-4009-A466-A81787258E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A49DFD55-3C28-40EF-9E31-A92D2E4017FF}" type="slidenum">
              <a:rPr lang="en-US" smtClean="0"/>
              <a:pPr>
                <a:spcAft>
                  <a:spcPts val="600"/>
                </a:spcAft>
              </a:pPr>
              <a:t>11</a:t>
            </a:fld>
            <a:endParaRPr lang="en-US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A60F562-B10C-BB50-3C09-5292E5C097A7}"/>
              </a:ext>
            </a:extLst>
          </p:cNvPr>
          <p:cNvSpPr>
            <a:spLocks noGrp="1" noChangeArrowheads="1"/>
          </p:cNvSpPr>
          <p:nvPr>
            <p:ph sz="half" idx="14"/>
          </p:nvPr>
        </p:nvSpPr>
        <p:spPr bwMode="auto">
          <a:xfrm>
            <a:off x="5453725" y="3348037"/>
            <a:ext cx="5907176" cy="2536826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</a:rPr>
              <a:t>The system accurately detects fake news.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effectLst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</a:rPr>
              <a:t>Future improvements: Use deep learning models (LSTM, BERT) for better accuracy.</a:t>
            </a:r>
          </a:p>
        </p:txBody>
      </p:sp>
    </p:spTree>
    <p:extLst>
      <p:ext uri="{BB962C8B-B14F-4D97-AF65-F5344CB8AC3E}">
        <p14:creationId xmlns:p14="http://schemas.microsoft.com/office/powerpoint/2010/main" val="2403577982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4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ustom" id="{F85C13B5-8B75-4CB8-BA5E-9CAC0747196D}" vid="{617487EE-AB70-4C55-8A81-E6744CC4A2C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EDE3176-A15D-46A3-BDDB-64A0D736322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9168DCE-134F-4610-A6AA-88CEBE8D71D2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CABF691C-888B-4061-8A6F-D5CE84A0254B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{29573E60-9710-4674-906C-B78DC1F9F593}tf67328976_win32</Template>
  <TotalTime>184</TotalTime>
  <Words>490</Words>
  <Application>Microsoft Office PowerPoint</Application>
  <PresentationFormat>Widescreen</PresentationFormat>
  <Paragraphs>106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Abadi</vt:lpstr>
      <vt:lpstr>-apple-system</vt:lpstr>
      <vt:lpstr>Arial</vt:lpstr>
      <vt:lpstr>Arial Unicode MS</vt:lpstr>
      <vt:lpstr>Calibri</vt:lpstr>
      <vt:lpstr>Tenorite</vt:lpstr>
      <vt:lpstr>Custom</vt:lpstr>
      <vt:lpstr>Fake News Detection Machine Learning based classification of news articles</vt:lpstr>
      <vt:lpstr>Team members:</vt:lpstr>
      <vt:lpstr>What is Fake News?</vt:lpstr>
      <vt:lpstr>Related work</vt:lpstr>
      <vt:lpstr>Dataset   Source: Kaggle - Fake and Real News Dataset  Content: 21,417 real articles, 23,481 fake articles.  Features: Title, Text, Subject, Date. </vt:lpstr>
      <vt:lpstr>Data Preprocessing</vt:lpstr>
      <vt:lpstr>Models Implemented</vt:lpstr>
      <vt:lpstr>Evaluation Metrics</vt:lpstr>
      <vt:lpstr>Results</vt:lpstr>
      <vt:lpstr>Deployment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jishnu singh</dc:creator>
  <cp:lastModifiedBy>jishnu singh</cp:lastModifiedBy>
  <cp:revision>4</cp:revision>
  <dcterms:created xsi:type="dcterms:W3CDTF">2025-04-25T04:54:27Z</dcterms:created>
  <dcterms:modified xsi:type="dcterms:W3CDTF">2025-05-02T05:15:06Z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